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12192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Gelasio" panose="020B0604020202020204" charset="0"/>
      <p:regular r:id="rId16"/>
    </p:embeddedFont>
    <p:embeddedFont>
      <p:font typeface="Gelasio Bold" panose="020B0604020202020204" charset="0"/>
      <p:regular r:id="rId17"/>
    </p:embeddedFont>
    <p:embeddedFont>
      <p:font typeface="Gelasio SemiBold" panose="020B0604020202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0143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37892" y="806824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 err="1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Hệ</a:t>
            </a:r>
            <a:r>
              <a:rPr lang="en-US" sz="3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 </a:t>
            </a:r>
            <a:r>
              <a:rPr lang="en-US" sz="3700" dirty="0" err="1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thống</a:t>
            </a:r>
            <a:r>
              <a:rPr lang="en-US" sz="3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 Quản Lý Chi Tiêu &amp; Thu Nhập Cá Nhân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4010124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9A138A-429F-4C2B-B865-0E405FD18F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4211" y="806824"/>
            <a:ext cx="5340724" cy="52443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1EB46D6-2BEF-4829-9B0E-1E39A18BFB4E}"/>
              </a:ext>
            </a:extLst>
          </p:cNvPr>
          <p:cNvSpPr txBox="1"/>
          <p:nvPr/>
        </p:nvSpPr>
        <p:spPr>
          <a:xfrm>
            <a:off x="237892" y="2050675"/>
            <a:ext cx="6296860" cy="2934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NHÓM THỰC HIỆN: NHÓM 7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QUÁCH BẢO LONG-B24DCCN371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VŨ NHẬT MINH-B24DCCN404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NGUYỄN ANH KIỆT-B24DCCN338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33360" y="639366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Tại Sao Chọn Đề Tài Này?</a:t>
            </a:r>
            <a:endParaRPr lang="en-US" sz="37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1513483"/>
            <a:ext cx="6296860" cy="144234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549364" y="1727895"/>
            <a:ext cx="57664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Khó theo dõi chi tiêu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5549364" y="2136577"/>
            <a:ext cx="576644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Sinh viên thường không có công cụ phù hợp để kiểm soát dòng tiền hằng ngày.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3144838"/>
            <a:ext cx="6296860" cy="144234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549364" y="3359249"/>
            <a:ext cx="57664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Cần giải pháp đơn giản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5549364" y="3767931"/>
            <a:ext cx="576644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Một ứng dụng nhẹ, dễ dùng để ghi chép và quản lý tài chính cá nhân hiệu quả.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4776192"/>
            <a:ext cx="6296860" cy="144234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549364" y="4990604"/>
            <a:ext cx="57664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Vận dụng kiến thức Python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5549364" y="5399286"/>
            <a:ext cx="576644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Cơ hội thực hành biến, hàm, OOP và cơ sở dữ liệu trong một dự án thực tế.</a:t>
            </a:r>
            <a:endParaRPr lang="en-US" sz="14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A31F7E3-5EF0-4DC4-AE8E-8DB4310DC4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187" y="729167"/>
            <a:ext cx="3769771" cy="54893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9133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Mục Tiêu Chính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3060005"/>
            <a:ext cx="3496877" cy="1706662"/>
          </a:xfrm>
          <a:prstGeom prst="roundRect">
            <a:avLst>
              <a:gd name="adj" fmla="val 1661"/>
            </a:avLst>
          </a:prstGeom>
          <a:solidFill>
            <a:srgbClr val="EEE8DD"/>
          </a:solidFill>
          <a:ln/>
        </p:spPr>
      </p:sp>
      <p:sp>
        <p:nvSpPr>
          <p:cNvPr id="4" name="Text 2"/>
          <p:cNvSpPr/>
          <p:nvPr/>
        </p:nvSpPr>
        <p:spPr>
          <a:xfrm>
            <a:off x="850482" y="3249017"/>
            <a:ext cx="3118863" cy="3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📋</a:t>
            </a: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 Quản lý Thu/Chi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0482" y="3670399"/>
            <a:ext cx="31188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Xây dựng chương trình Python đơn giản, chính xác để ghi nhận mọi giao dịch tài chính.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3060005"/>
            <a:ext cx="3496877" cy="1706662"/>
          </a:xfrm>
          <a:prstGeom prst="roundRect">
            <a:avLst>
              <a:gd name="adj" fmla="val 1661"/>
            </a:avLst>
          </a:prstGeom>
          <a:solidFill>
            <a:srgbClr val="EEE8DD"/>
          </a:solidFill>
          <a:ln/>
        </p:spPr>
      </p:sp>
      <p:sp>
        <p:nvSpPr>
          <p:cNvPr id="7" name="Text 5"/>
          <p:cNvSpPr/>
          <p:nvPr/>
        </p:nvSpPr>
        <p:spPr>
          <a:xfrm>
            <a:off x="4536366" y="3249017"/>
            <a:ext cx="3118863" cy="3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 Theo Dõi Số Dư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36366" y="3670399"/>
            <a:ext cx="31188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Giúp người dùng nắm rõ số dư và thống kê tài chính theo thời gian thực.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3060005"/>
            <a:ext cx="3496877" cy="1706662"/>
          </a:xfrm>
          <a:prstGeom prst="roundRect">
            <a:avLst>
              <a:gd name="adj" fmla="val 1661"/>
            </a:avLst>
          </a:prstGeom>
          <a:solidFill>
            <a:srgbClr val="EEE8DD"/>
          </a:solidFill>
          <a:ln/>
        </p:spPr>
      </p:sp>
      <p:sp>
        <p:nvSpPr>
          <p:cNvPr id="10" name="Text 8"/>
          <p:cNvSpPr/>
          <p:nvPr/>
        </p:nvSpPr>
        <p:spPr>
          <a:xfrm>
            <a:off x="8222251" y="3249017"/>
            <a:ext cx="3118863" cy="3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🔔</a:t>
            </a: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 Cảnh Báo Thông Minh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2251" y="3670399"/>
            <a:ext cx="3118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Tự động cảnh báo khi chi tiêu vượt ngân sách đã đặt ra.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022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Các Chức Năng Chính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8032251" y="1756966"/>
            <a:ext cx="425241" cy="42525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5" name="Text 2"/>
          <p:cNvSpPr/>
          <p:nvPr/>
        </p:nvSpPr>
        <p:spPr>
          <a:xfrm>
            <a:off x="8103141" y="1792387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646499" y="1821855"/>
            <a:ext cx="288997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Quản lý giao dịch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646499" y="2306141"/>
            <a:ext cx="288997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Thêm, sửa, xóa và tìm kiếm giao dịch nhanh chóng.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032251" y="3289002"/>
            <a:ext cx="425241" cy="42525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9" name="Text 6"/>
          <p:cNvSpPr/>
          <p:nvPr/>
        </p:nvSpPr>
        <p:spPr>
          <a:xfrm>
            <a:off x="8103141" y="3324423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646499" y="3353891"/>
            <a:ext cx="288997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Phân loại 8 danh mục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8646499" y="3838178"/>
            <a:ext cx="288997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Ăn uống, đi lại, học tập, mua sắm, giải trí, nhà ở, sức khỏe, khác.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8032251" y="4821039"/>
            <a:ext cx="425241" cy="42525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13" name="Text 10"/>
          <p:cNvSpPr/>
          <p:nvPr/>
        </p:nvSpPr>
        <p:spPr>
          <a:xfrm>
            <a:off x="8103141" y="4856460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8646499" y="4885928"/>
            <a:ext cx="288997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Thống kê &amp; Lọc dữ liệu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8646499" y="5370215"/>
            <a:ext cx="288997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Tổng thu/chi, số dư; lọc theo ngày, tháng, danh mục.</a:t>
            </a:r>
            <a:endParaRPr lang="en-US" sz="14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C6969BF-6B5E-4818-888F-44139417EC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585" y="1756966"/>
            <a:ext cx="7232330" cy="451860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173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Ví Dụ: Thống Kê Tài Chính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375668"/>
            <a:ext cx="5239810" cy="37717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96760" y="1358900"/>
            <a:ext cx="523981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Tổng quan tháng này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296760" y="1742579"/>
            <a:ext cx="5239810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Ứng dụng hiển thị tức thì số dư sau mỗi giao dịch, giúp người dùng kiểm soát tài chính mọi lúc.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61475" y="5449987"/>
            <a:ext cx="3533191" cy="883841"/>
          </a:xfrm>
          <a:prstGeom prst="roundRect">
            <a:avLst>
              <a:gd name="adj" fmla="val 2707"/>
            </a:avLst>
          </a:prstGeom>
          <a:solidFill>
            <a:srgbClr val="EEE8DD"/>
          </a:solidFill>
          <a:ln/>
        </p:spPr>
      </p:sp>
      <p:sp>
        <p:nvSpPr>
          <p:cNvPr id="7" name="Text 4"/>
          <p:cNvSpPr/>
          <p:nvPr/>
        </p:nvSpPr>
        <p:spPr>
          <a:xfrm>
            <a:off x="820915" y="5609431"/>
            <a:ext cx="321430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8.000.000 VNĐ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0915" y="5939234"/>
            <a:ext cx="3214309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Tổng thu nhập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29203" y="5449987"/>
            <a:ext cx="3533191" cy="883841"/>
          </a:xfrm>
          <a:prstGeom prst="roundRect">
            <a:avLst>
              <a:gd name="adj" fmla="val 2707"/>
            </a:avLst>
          </a:prstGeom>
          <a:solidFill>
            <a:srgbClr val="EEE8DD"/>
          </a:solidFill>
          <a:ln/>
        </p:spPr>
      </p:sp>
      <p:sp>
        <p:nvSpPr>
          <p:cNvPr id="10" name="Text 7"/>
          <p:cNvSpPr/>
          <p:nvPr/>
        </p:nvSpPr>
        <p:spPr>
          <a:xfrm>
            <a:off x="4488643" y="5609431"/>
            <a:ext cx="321430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5.250.000 VNĐ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4488643" y="5939234"/>
            <a:ext cx="3214309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Tổng chi tiêu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996930" y="5449987"/>
            <a:ext cx="3533191" cy="883841"/>
          </a:xfrm>
          <a:prstGeom prst="roundRect">
            <a:avLst>
              <a:gd name="adj" fmla="val 2707"/>
            </a:avLst>
          </a:prstGeom>
          <a:solidFill>
            <a:srgbClr val="EEE8DD"/>
          </a:solidFill>
          <a:ln/>
        </p:spPr>
      </p:sp>
      <p:sp>
        <p:nvSpPr>
          <p:cNvPr id="13" name="Text 10"/>
          <p:cNvSpPr/>
          <p:nvPr/>
        </p:nvSpPr>
        <p:spPr>
          <a:xfrm>
            <a:off x="8156371" y="5609431"/>
            <a:ext cx="321430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2.750.000 VNĐ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8156371" y="5939234"/>
            <a:ext cx="3214309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Số dư hiện tại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Thống Kê Chi Tiêu Theo Danh Mục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950541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Biểu đồ trực quan giúp người dùng nhanh chóng nhận ra danh mục tiêu tốn nhiều tiền nhất trong tháng.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2725440"/>
            <a:ext cx="5203794" cy="1839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🍜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Ăn uống: </a:t>
            </a:r>
            <a:r>
              <a:rPr lang="en-US" sz="14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1.500.000 VNĐ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42%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🛍️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Mua sắm: </a:t>
            </a:r>
            <a:r>
              <a:rPr lang="en-US" sz="14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800.000 VNĐ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23%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🚌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Đi lại: </a:t>
            </a:r>
            <a:r>
              <a:rPr lang="en-US" sz="14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500.000 VNĐ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14%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🎮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Giải trí: </a:t>
            </a:r>
            <a:r>
              <a:rPr lang="en-US" sz="14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450.000 VNĐ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13%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📚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Học tập: </a:t>
            </a:r>
            <a:r>
              <a:rPr lang="en-US" sz="14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300.000 VNĐ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8%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776" y="1993106"/>
            <a:ext cx="5203794" cy="37458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0972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Công Nghệ Sử Dụng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578398"/>
            <a:ext cx="1117572" cy="111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932238"/>
            <a:ext cx="25399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Python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340920"/>
            <a:ext cx="25399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Ngôn ngữ lập trình chính, xử lý toàn bộ logic nghiệp vụ của ứng dụng.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645" y="2578398"/>
            <a:ext cx="1117572" cy="1117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37645" y="3932238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Tkinter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3437645" y="4340920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Thư viện chuẩn của Python để xây dựng giao diện người dùng trực quan.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3915" y="2578398"/>
            <a:ext cx="1117572" cy="1117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13915" y="3932238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SQL server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213915" y="4340920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Cơ sở dữ liệu nhẹ, không cần cài đặt server — lý tưởng cho ứng dụng desktop.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0184" y="2578398"/>
            <a:ext cx="1117572" cy="1117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90184" y="3932238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Matplotlib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8990184" y="4340920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Thư viện vẽ biểu đồ để trực quan hóa thống kê tài chính theo danh mục.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8737"/>
            <a:ext cx="10868745" cy="46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Kiến Trúc Chương Trình</a:t>
            </a:r>
            <a:endParaRPr lang="en-US" sz="2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549" y="1293019"/>
            <a:ext cx="4906443" cy="49064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54105" y="2135280"/>
            <a:ext cx="1580922" cy="24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main.py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2154105" y="2453842"/>
            <a:ext cx="1580922" cy="529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Điểm vào, khởi tạo ứng dụng và điều hướng.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34994" y="2223601"/>
            <a:ext cx="1580922" cy="24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database.py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4534994" y="2542163"/>
            <a:ext cx="1580922" cy="353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Quản lý kết nối SQLite và truy vấn.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154243" y="4604412"/>
            <a:ext cx="1580922" cy="24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models.py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2154243" y="4922974"/>
            <a:ext cx="1580922" cy="353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Lớp giao dịch, thu nhập và chi tiêu.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34994" y="4604412"/>
            <a:ext cx="1580922" cy="24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gui &amp; stats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4534994" y="4922974"/>
            <a:ext cx="1580922" cy="353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Tương tác Tkinter và tính toán biểu đồ.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966570" y="2100064"/>
            <a:ext cx="3569901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Phân chia module rõ ràng</a:t>
            </a:r>
            <a:endParaRPr lang="en-US" sz="14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47521" y="2441476"/>
            <a:ext cx="3588950" cy="5944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152303" y="2460526"/>
            <a:ext cx="3384168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main.py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8152303" y="2806502"/>
            <a:ext cx="3384168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Điểm vào chương trình, khởi tạo ứng dụng.</a:t>
            </a:r>
            <a:endParaRPr lang="en-US" sz="115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47521" y="3228479"/>
            <a:ext cx="3588950" cy="5944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52303" y="3247529"/>
            <a:ext cx="3384168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database.py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152303" y="3593505"/>
            <a:ext cx="3384168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Kết nối và quản lý cơ sở dữ liệu SQLite.</a:t>
            </a:r>
            <a:endParaRPr lang="en-US" sz="115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47521" y="4015482"/>
            <a:ext cx="3588950" cy="5944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152303" y="4034532"/>
            <a:ext cx="3384168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models.py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8152303" y="4380508"/>
            <a:ext cx="3384168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Lớp OOP: giao dịch, thu nhập, chi tiêu.</a:t>
            </a:r>
            <a:endParaRPr lang="en-US" sz="115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47521" y="4802485"/>
            <a:ext cx="3588950" cy="5944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152303" y="4821535"/>
            <a:ext cx="3384168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gui.py &amp; statistics.py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8152303" y="5167511"/>
            <a:ext cx="3384168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Giao diện Tkinter và module tính toán thống kê.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33360" y="551954"/>
            <a:ext cx="6296860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Kết Quả Dự Kiến</a:t>
            </a:r>
            <a:endParaRPr lang="en-US" sz="3350" dirty="0"/>
          </a:p>
        </p:txBody>
      </p:sp>
      <p:sp>
        <p:nvSpPr>
          <p:cNvPr id="4" name="Shape 1"/>
          <p:cNvSpPr/>
          <p:nvPr/>
        </p:nvSpPr>
        <p:spPr>
          <a:xfrm>
            <a:off x="5233360" y="1320006"/>
            <a:ext cx="6296860" cy="3908425"/>
          </a:xfrm>
          <a:prstGeom prst="roundRect">
            <a:avLst>
              <a:gd name="adj" fmla="val 657"/>
            </a:avLst>
          </a:prstGeom>
          <a:solidFill>
            <a:srgbClr val="EEE8DD"/>
          </a:solidFill>
          <a:ln/>
        </p:spPr>
      </p:sp>
      <p:sp>
        <p:nvSpPr>
          <p:cNvPr id="5" name="Shape 2"/>
          <p:cNvSpPr/>
          <p:nvPr/>
        </p:nvSpPr>
        <p:spPr>
          <a:xfrm>
            <a:off x="5233360" y="1320006"/>
            <a:ext cx="6296860" cy="977106"/>
          </a:xfrm>
          <a:custGeom>
            <a:avLst/>
            <a:gdLst/>
            <a:ahLst/>
            <a:cxnLst/>
            <a:rect l="l" t="t" r="r" b="b"/>
            <a:pathLst>
              <a:path w="6296860" h="977106">
                <a:moveTo>
                  <a:pt x="21412" y="0"/>
                </a:moveTo>
                <a:lnTo>
                  <a:pt x="6275447" y="0"/>
                </a:lnTo>
                <a:arcTo wR="21412" hR="21413" stAng="16200000" swAng="5400000"/>
                <a:lnTo>
                  <a:pt x="6296860" y="977106"/>
                </a:lnTo>
                <a:lnTo>
                  <a:pt x="0" y="977106"/>
                </a:lnTo>
                <a:lnTo>
                  <a:pt x="0" y="21413"/>
                </a:lnTo>
                <a:arcTo wR="21412" hR="21413" stAng="10800000" swAng="5400000"/>
                <a:close/>
              </a:path>
            </a:pathLst>
          </a:custGeom>
          <a:solidFill>
            <a:srgbClr val="EEE8DD"/>
          </a:solidFill>
          <a:ln/>
        </p:spPr>
      </p:sp>
      <p:sp>
        <p:nvSpPr>
          <p:cNvPr id="6" name="Text 3"/>
          <p:cNvSpPr/>
          <p:nvPr/>
        </p:nvSpPr>
        <p:spPr>
          <a:xfrm>
            <a:off x="5404608" y="1491258"/>
            <a:ext cx="5954365" cy="280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6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 Ứng dụng hoàn chỉnh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5404608" y="1864618"/>
            <a:ext cx="5954365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Quản lý thu/chi cá nhân đầy đủ chức năng.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233360" y="2297113"/>
            <a:ext cx="6296860" cy="977106"/>
          </a:xfrm>
          <a:prstGeom prst="rect">
            <a:avLst/>
          </a:prstGeom>
          <a:solidFill>
            <a:srgbClr val="EEE8DD"/>
          </a:solidFill>
          <a:ln/>
        </p:spPr>
      </p:sp>
      <p:sp>
        <p:nvSpPr>
          <p:cNvPr id="9" name="Shape 6"/>
          <p:cNvSpPr/>
          <p:nvPr/>
        </p:nvSpPr>
        <p:spPr>
          <a:xfrm>
            <a:off x="5233360" y="2297113"/>
            <a:ext cx="6296860" cy="19050"/>
          </a:xfrm>
          <a:prstGeom prst="roundRect">
            <a:avLst>
              <a:gd name="adj" fmla="val 49999"/>
            </a:avLst>
          </a:prstGeom>
          <a:solidFill>
            <a:srgbClr val="D4CEC3"/>
          </a:solidFill>
          <a:ln/>
        </p:spPr>
      </p:sp>
      <p:sp>
        <p:nvSpPr>
          <p:cNvPr id="10" name="Text 7"/>
          <p:cNvSpPr/>
          <p:nvPr/>
        </p:nvSpPr>
        <p:spPr>
          <a:xfrm>
            <a:off x="5404608" y="2468364"/>
            <a:ext cx="5954365" cy="280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🖥️</a:t>
            </a:r>
            <a:r>
              <a:rPr lang="en-US" sz="16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 Giao diện thân thiện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5404608" y="2841724"/>
            <a:ext cx="5954365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Dễ sử dụng, phù hợp với mọi đối tượng sinh viên.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233360" y="3274219"/>
            <a:ext cx="6296860" cy="977106"/>
          </a:xfrm>
          <a:prstGeom prst="rect">
            <a:avLst/>
          </a:prstGeom>
          <a:solidFill>
            <a:srgbClr val="EEE8DD"/>
          </a:solidFill>
          <a:ln/>
        </p:spPr>
      </p:sp>
      <p:sp>
        <p:nvSpPr>
          <p:cNvPr id="13" name="Shape 10"/>
          <p:cNvSpPr/>
          <p:nvPr/>
        </p:nvSpPr>
        <p:spPr>
          <a:xfrm>
            <a:off x="5233360" y="3274219"/>
            <a:ext cx="6296860" cy="19050"/>
          </a:xfrm>
          <a:prstGeom prst="roundRect">
            <a:avLst>
              <a:gd name="adj" fmla="val 49999"/>
            </a:avLst>
          </a:prstGeom>
          <a:solidFill>
            <a:srgbClr val="D4CEC3"/>
          </a:solidFill>
          <a:ln/>
        </p:spPr>
      </p:sp>
      <p:sp>
        <p:nvSpPr>
          <p:cNvPr id="14" name="Text 11"/>
          <p:cNvSpPr/>
          <p:nvPr/>
        </p:nvSpPr>
        <p:spPr>
          <a:xfrm>
            <a:off x="5404608" y="3445470"/>
            <a:ext cx="5954365" cy="280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📈</a:t>
            </a:r>
            <a:r>
              <a:rPr lang="en-US" sz="16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 Báo cáo chi tiết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5404608" y="3818830"/>
            <a:ext cx="5954365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Thống kê tài chính theo tháng với biểu đồ trực quan.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233360" y="4251325"/>
            <a:ext cx="6296860" cy="977106"/>
          </a:xfrm>
          <a:custGeom>
            <a:avLst/>
            <a:gdLst/>
            <a:ahLst/>
            <a:cxnLst/>
            <a:rect l="l" t="t" r="r" b="b"/>
            <a:pathLst>
              <a:path w="6296860" h="977106">
                <a:moveTo>
                  <a:pt x="0" y="0"/>
                </a:moveTo>
                <a:lnTo>
                  <a:pt x="6296860" y="0"/>
                </a:lnTo>
                <a:lnTo>
                  <a:pt x="6296860" y="955693"/>
                </a:lnTo>
                <a:arcTo wR="21412" hR="21413" stAng="0" swAng="5400000"/>
                <a:lnTo>
                  <a:pt x="21412" y="977106"/>
                </a:lnTo>
                <a:arcTo wR="21412" hR="21413" stAng="5400000" swAng="5400000"/>
                <a:lnTo>
                  <a:pt x="0" y="0"/>
                </a:lnTo>
                <a:close/>
              </a:path>
            </a:pathLst>
          </a:custGeom>
          <a:solidFill>
            <a:srgbClr val="EEE8DD"/>
          </a:solidFill>
          <a:ln/>
        </p:spPr>
      </p:sp>
      <p:sp>
        <p:nvSpPr>
          <p:cNvPr id="17" name="Shape 14"/>
          <p:cNvSpPr/>
          <p:nvPr/>
        </p:nvSpPr>
        <p:spPr>
          <a:xfrm>
            <a:off x="5233360" y="4251325"/>
            <a:ext cx="6296860" cy="19050"/>
          </a:xfrm>
          <a:prstGeom prst="roundRect">
            <a:avLst>
              <a:gd name="adj" fmla="val 49999"/>
            </a:avLst>
          </a:prstGeom>
          <a:solidFill>
            <a:srgbClr val="D4CEC3"/>
          </a:solidFill>
          <a:ln/>
        </p:spPr>
      </p:sp>
      <p:sp>
        <p:nvSpPr>
          <p:cNvPr id="18" name="Text 15"/>
          <p:cNvSpPr/>
          <p:nvPr/>
        </p:nvSpPr>
        <p:spPr>
          <a:xfrm>
            <a:off x="5404608" y="4422577"/>
            <a:ext cx="5954365" cy="280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🔔</a:t>
            </a:r>
            <a:r>
              <a:rPr lang="en-US" sz="16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 Cảnh báo thông minh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5404608" y="4795937"/>
            <a:ext cx="5954365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Tự động thông báo khi chi tiêu vượt ngân sách đặt ra.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233360" y="5403056"/>
            <a:ext cx="6296860" cy="902891"/>
          </a:xfrm>
          <a:prstGeom prst="roundRect">
            <a:avLst>
              <a:gd name="adj" fmla="val 2846"/>
            </a:avLst>
          </a:prstGeom>
          <a:solidFill>
            <a:srgbClr val="ECE6DF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608" y="5628878"/>
            <a:ext cx="214109" cy="17125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789964" y="5600998"/>
            <a:ext cx="5569009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Dự án hướng đến việc áp dụng toàn bộ kiến thức Python đã học vào một sản phẩm thực tế, hữu ích cho chính nhóm sinh viên.</a:t>
            </a:r>
            <a:endParaRPr lang="en-US" sz="13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F1B87D6-38F0-40E6-B5B2-9DD8B2022F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688" y="1467891"/>
            <a:ext cx="4701877" cy="470187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681</Words>
  <Application>Microsoft Office PowerPoint</Application>
  <PresentationFormat>Widescreen</PresentationFormat>
  <Paragraphs>91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Twemoji Mozilla</vt:lpstr>
      <vt:lpstr>Arial</vt:lpstr>
      <vt:lpstr>Gelasio SemiBold</vt:lpstr>
      <vt:lpstr>Gelasio Bold</vt:lpstr>
      <vt:lpstr>Gelasio</vt:lpstr>
      <vt:lpstr>Times New Roman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Quách Long</dc:creator>
  <cp:lastModifiedBy>Long Quách</cp:lastModifiedBy>
  <cp:revision>3</cp:revision>
  <dcterms:created xsi:type="dcterms:W3CDTF">2026-09-04T09:02:26Z</dcterms:created>
  <dcterms:modified xsi:type="dcterms:W3CDTF">2026-09-04T09:28:50Z</dcterms:modified>
</cp:coreProperties>
</file>